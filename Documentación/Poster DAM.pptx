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5999725" cx="25199975"/>
  <p:notesSz cx="6669075" cy="9926625"/>
  <p:embeddedFontLst>
    <p:embeddedFont>
      <p:font typeface="Overlock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338">
          <p15:clr>
            <a:srgbClr val="A4A3A4"/>
          </p15:clr>
        </p15:guide>
        <p15:guide id="2" pos="79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338" orient="horz"/>
        <p:guide pos="793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Overlock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verlock-italic.fnt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verlock-regular.fntdata"/><Relationship Id="rId8" Type="http://schemas.openxmlformats.org/officeDocument/2006/relationships/font" Target="fonts/Overlo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11725" y="744475"/>
            <a:ext cx="4446250" cy="372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66900" y="4715125"/>
            <a:ext cx="5335250" cy="44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66900" y="4715125"/>
            <a:ext cx="5335250" cy="44669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11725" y="744475"/>
            <a:ext cx="4446250" cy="372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889998" y="5891626"/>
            <a:ext cx="21419979" cy="125332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35"/>
              <a:buFont typeface="Calibri"/>
              <a:buNone/>
              <a:defRPr sz="1653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49997" y="18908198"/>
            <a:ext cx="18899981" cy="8691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6614"/>
              <a:buNone/>
              <a:defRPr sz="6614"/>
            </a:lvl1pPr>
            <a:lvl2pPr lvl="1" algn="ctr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5512"/>
              <a:buNone/>
              <a:defRPr sz="5512"/>
            </a:lvl2pPr>
            <a:lvl3pPr lvl="2" algn="ctr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961"/>
              <a:buNone/>
              <a:defRPr sz="4961"/>
            </a:lvl3pPr>
            <a:lvl4pPr lvl="3" algn="ctr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sz="4409"/>
            </a:lvl4pPr>
            <a:lvl5pPr lvl="4" algn="ctr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sz="4409"/>
            </a:lvl5pPr>
            <a:lvl6pPr lvl="5" algn="ctr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sz="4409"/>
            </a:lvl6pPr>
            <a:lvl7pPr lvl="6" algn="ctr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sz="4409"/>
            </a:lvl7pPr>
            <a:lvl8pPr lvl="7" algn="ctr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sz="4409"/>
            </a:lvl8pPr>
            <a:lvl9pPr lvl="8" algn="ctr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sz="4409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1719375" y="8974945"/>
            <a:ext cx="21734978" cy="1497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35"/>
              <a:buFont typeface="Calibri"/>
              <a:buNone/>
              <a:defRPr sz="1653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719375" y="24091502"/>
            <a:ext cx="21734978" cy="7874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6614"/>
              <a:buNone/>
              <a:defRPr sz="6614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rgbClr val="888888"/>
              </a:buClr>
              <a:buSzPts val="5512"/>
              <a:buNone/>
              <a:defRPr sz="5512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rgbClr val="888888"/>
              </a:buClr>
              <a:buSzPts val="4961"/>
              <a:buNone/>
              <a:defRPr sz="4961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rgbClr val="888888"/>
              </a:buClr>
              <a:buSzPts val="4409"/>
              <a:buNone/>
              <a:defRPr sz="440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rgbClr val="888888"/>
              </a:buClr>
              <a:buSzPts val="4409"/>
              <a:buNone/>
              <a:defRPr sz="440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rgbClr val="888888"/>
              </a:buClr>
              <a:buSzPts val="4409"/>
              <a:buNone/>
              <a:defRPr sz="440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rgbClr val="888888"/>
              </a:buClr>
              <a:buSzPts val="4409"/>
              <a:buNone/>
              <a:defRPr sz="440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rgbClr val="888888"/>
              </a:buClr>
              <a:buSzPts val="4409"/>
              <a:buNone/>
              <a:defRPr sz="440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rgbClr val="888888"/>
              </a:buClr>
              <a:buSzPts val="4409"/>
              <a:buNone/>
              <a:defRPr sz="440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1732498" y="9583264"/>
            <a:ext cx="10709989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12757488" y="9583264"/>
            <a:ext cx="10709989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1735781" y="1916661"/>
            <a:ext cx="21734978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735783" y="8824938"/>
            <a:ext cx="10660769" cy="4324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6614"/>
              <a:buNone/>
              <a:defRPr b="1" sz="6614"/>
            </a:lvl1pPr>
            <a:lvl2pPr indent="-2286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5512"/>
              <a:buNone/>
              <a:defRPr b="1" sz="5512"/>
            </a:lvl2pPr>
            <a:lvl3pPr indent="-2286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961"/>
              <a:buNone/>
              <a:defRPr b="1" sz="4961"/>
            </a:lvl3pPr>
            <a:lvl4pPr indent="-2286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4pPr>
            <a:lvl5pPr indent="-2286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5pPr>
            <a:lvl6pPr indent="-2286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6pPr>
            <a:lvl7pPr indent="-2286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7pPr>
            <a:lvl8pPr indent="-2286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8pPr>
            <a:lvl9pPr indent="-2286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1735783" y="13149904"/>
            <a:ext cx="10660769" cy="1934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12757489" y="8824938"/>
            <a:ext cx="10713272" cy="4324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6614"/>
              <a:buNone/>
              <a:defRPr b="1" sz="6614"/>
            </a:lvl1pPr>
            <a:lvl2pPr indent="-2286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5512"/>
              <a:buNone/>
              <a:defRPr b="1" sz="5512"/>
            </a:lvl2pPr>
            <a:lvl3pPr indent="-2286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961"/>
              <a:buNone/>
              <a:defRPr b="1" sz="4961"/>
            </a:lvl3pPr>
            <a:lvl4pPr indent="-2286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4pPr>
            <a:lvl5pPr indent="-2286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5pPr>
            <a:lvl6pPr indent="-2286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6pPr>
            <a:lvl7pPr indent="-2286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7pPr>
            <a:lvl8pPr indent="-2286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8pPr>
            <a:lvl9pPr indent="-2286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b="1" sz="4409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12757489" y="13149904"/>
            <a:ext cx="10713272" cy="1934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1735780" y="2399982"/>
            <a:ext cx="8127648" cy="83999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19"/>
              <a:buFont typeface="Calibri"/>
              <a:buNone/>
              <a:defRPr sz="881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10713272" y="5183304"/>
            <a:ext cx="12757487" cy="25583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788606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8819"/>
              <a:buChar char="•"/>
              <a:defRPr sz="8819"/>
            </a:lvl1pPr>
            <a:lvl2pPr indent="-718629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7717"/>
              <a:buChar char="•"/>
              <a:defRPr sz="7717"/>
            </a:lvl2pPr>
            <a:lvl3pPr indent="-648589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6614"/>
              <a:buChar char="•"/>
              <a:defRPr sz="6614"/>
            </a:lvl3pPr>
            <a:lvl4pPr indent="-578612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5512"/>
              <a:buChar char="•"/>
              <a:defRPr sz="5512"/>
            </a:lvl4pPr>
            <a:lvl5pPr indent="-578612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5512"/>
              <a:buChar char="•"/>
              <a:defRPr sz="5512"/>
            </a:lvl5pPr>
            <a:lvl6pPr indent="-578612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5512"/>
              <a:buChar char="•"/>
              <a:defRPr sz="5512"/>
            </a:lvl6pPr>
            <a:lvl7pPr indent="-578612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5512"/>
              <a:buChar char="•"/>
              <a:defRPr sz="5512"/>
            </a:lvl7pPr>
            <a:lvl8pPr indent="-578612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5512"/>
              <a:buChar char="•"/>
              <a:defRPr sz="5512"/>
            </a:lvl8pPr>
            <a:lvl9pPr indent="-578612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5512"/>
              <a:buChar char="•"/>
              <a:defRPr sz="5512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1735780" y="10799922"/>
            <a:ext cx="8127648" cy="2000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sz="4409"/>
            </a:lvl1pPr>
            <a:lvl2pPr indent="-2286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3858"/>
              <a:buNone/>
              <a:defRPr sz="3858"/>
            </a:lvl2pPr>
            <a:lvl3pPr indent="-2286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/>
            </a:lvl3pPr>
            <a:lvl4pPr indent="-2286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4pPr>
            <a:lvl5pPr indent="-2286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5pPr>
            <a:lvl6pPr indent="-2286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6pPr>
            <a:lvl7pPr indent="-2286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7pPr>
            <a:lvl8pPr indent="-2286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8pPr>
            <a:lvl9pPr indent="-2286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35780" y="2399982"/>
            <a:ext cx="8127648" cy="83999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19"/>
              <a:buFont typeface="Calibri"/>
              <a:buNone/>
              <a:defRPr sz="881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0713272" y="5183304"/>
            <a:ext cx="12757487" cy="25583147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35780" y="10799922"/>
            <a:ext cx="8127648" cy="2000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4409"/>
              <a:buNone/>
              <a:defRPr sz="4409"/>
            </a:lvl1pPr>
            <a:lvl2pPr indent="-2286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3858"/>
              <a:buNone/>
              <a:defRPr sz="3858"/>
            </a:lvl2pPr>
            <a:lvl3pPr indent="-2286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/>
            </a:lvl3pPr>
            <a:lvl4pPr indent="-2286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4pPr>
            <a:lvl5pPr indent="-2286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5pPr>
            <a:lvl6pPr indent="-2286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6pPr>
            <a:lvl7pPr indent="-2286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7pPr>
            <a:lvl8pPr indent="-2286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8pPr>
            <a:lvl9pPr indent="-2286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179237" y="10136527"/>
            <a:ext cx="22841503" cy="21734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496548" y="14453838"/>
            <a:ext cx="30508114" cy="5433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-5528440" y="9177593"/>
            <a:ext cx="30508114" cy="15986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26"/>
              <a:buFont typeface="Calibri"/>
              <a:buNone/>
              <a:defRPr b="0" i="0" sz="1212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718629" lvl="0" marL="457200" marR="0" rtl="0" algn="l">
              <a:lnSpc>
                <a:spcPct val="90000"/>
              </a:lnSpc>
              <a:spcBef>
                <a:spcPts val="2756"/>
              </a:spcBef>
              <a:spcAft>
                <a:spcPts val="0"/>
              </a:spcAft>
              <a:buClr>
                <a:schemeClr val="dk1"/>
              </a:buClr>
              <a:buSzPts val="7717"/>
              <a:buFont typeface="Arial"/>
              <a:buChar char="•"/>
              <a:defRPr b="0" i="0" sz="771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648589" lvl="1" marL="914400" marR="0" rtl="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6614"/>
              <a:buFont typeface="Arial"/>
              <a:buChar char="•"/>
              <a:defRPr b="0" i="0" sz="66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78612" lvl="2" marL="1371600" marR="0" rtl="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5512"/>
              <a:buFont typeface="Arial"/>
              <a:buChar char="•"/>
              <a:defRPr b="0" i="0" sz="551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43623" lvl="3" marL="1828800" marR="0" rtl="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961"/>
              <a:buFont typeface="Arial"/>
              <a:buChar char="•"/>
              <a:defRPr b="0" i="0" sz="49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43623" lvl="4" marL="2286000" marR="0" rtl="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961"/>
              <a:buFont typeface="Arial"/>
              <a:buChar char="•"/>
              <a:defRPr b="0" i="0" sz="49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43623" lvl="5" marL="2743200" marR="0" rtl="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961"/>
              <a:buFont typeface="Arial"/>
              <a:buChar char="•"/>
              <a:defRPr b="0" i="0" sz="49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43623" lvl="6" marL="3200400" marR="0" rtl="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961"/>
              <a:buFont typeface="Arial"/>
              <a:buChar char="•"/>
              <a:defRPr b="0" i="0" sz="49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43623" lvl="7" marL="3657600" marR="0" rtl="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961"/>
              <a:buFont typeface="Arial"/>
              <a:buChar char="•"/>
              <a:defRPr b="0" i="0" sz="49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43623" lvl="8" marL="4114800" marR="0" rtl="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961"/>
              <a:buFont typeface="Arial"/>
              <a:buChar char="•"/>
              <a:defRPr b="0" i="0" sz="496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8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30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30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30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30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30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30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30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30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30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3.png"/><Relationship Id="rId13" Type="http://schemas.openxmlformats.org/officeDocument/2006/relationships/image" Target="../media/image7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1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4627808" y="4631239"/>
            <a:ext cx="37022469" cy="277668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14806364" y="30012210"/>
            <a:ext cx="9603600" cy="5344800"/>
          </a:xfrm>
          <a:prstGeom prst="rect">
            <a:avLst/>
          </a:prstGeom>
          <a:noFill/>
          <a:ln cap="flat" cmpd="sng" w="762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88715" y="30047081"/>
            <a:ext cx="13686503" cy="5344845"/>
          </a:xfrm>
          <a:prstGeom prst="rect">
            <a:avLst/>
          </a:prstGeom>
          <a:noFill/>
          <a:ln cap="flat" cmpd="sng" w="762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438654" y="24330481"/>
            <a:ext cx="8032632" cy="4151126"/>
          </a:xfrm>
          <a:prstGeom prst="rect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417495" y="17990880"/>
            <a:ext cx="8032632" cy="5835305"/>
          </a:xfrm>
          <a:prstGeom prst="rect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88715" y="9729117"/>
            <a:ext cx="23721256" cy="19325205"/>
          </a:xfrm>
          <a:prstGeom prst="rect">
            <a:avLst/>
          </a:prstGeom>
          <a:noFill/>
          <a:ln cap="flat" cmpd="sng" w="762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324350" y="10355655"/>
            <a:ext cx="8032500" cy="7207500"/>
          </a:xfrm>
          <a:prstGeom prst="rect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88715" y="4355306"/>
            <a:ext cx="13686503" cy="4228657"/>
          </a:xfrm>
          <a:prstGeom prst="rect">
            <a:avLst/>
          </a:prstGeom>
          <a:noFill/>
          <a:ln cap="flat" cmpd="sng" w="762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78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79841" y="500224"/>
            <a:ext cx="13995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000">
                <a:solidFill>
                  <a:srgbClr val="C55A11"/>
                </a:solidFill>
                <a:latin typeface="Overlock"/>
                <a:ea typeface="Overlock"/>
                <a:cs typeface="Overlock"/>
                <a:sym typeface="Overlock"/>
              </a:rPr>
              <a:t>Deck&amp;Dagger: Goblin Hunt</a:t>
            </a:r>
            <a:r>
              <a:rPr b="0" i="0" lang="es-ES" sz="6000" u="none" cap="none" strike="noStrike">
                <a:solidFill>
                  <a:srgbClr val="C55A11"/>
                </a:solidFill>
                <a:latin typeface="Overlock"/>
                <a:ea typeface="Overlock"/>
                <a:cs typeface="Overlock"/>
                <a:sym typeface="Overlock"/>
              </a:rPr>
              <a:t>  </a:t>
            </a:r>
            <a:endParaRPr b="0" i="0" sz="6000" u="none" cap="none" strike="noStrike">
              <a:solidFill>
                <a:srgbClr val="C55A11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000">
                <a:solidFill>
                  <a:srgbClr val="C55A11"/>
                </a:solidFill>
                <a:latin typeface="Overlock"/>
                <a:ea typeface="Overlock"/>
                <a:cs typeface="Overlock"/>
                <a:sym typeface="Overlock"/>
              </a:rPr>
              <a:t>Videojuego roguelike deckbuilder</a:t>
            </a:r>
            <a:endParaRPr b="0" i="0" sz="6000" u="none" cap="none" strike="noStrike">
              <a:solidFill>
                <a:srgbClr val="C55A1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-114698" y="3571876"/>
            <a:ext cx="6533803" cy="98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783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0" lang="es-ES" sz="48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1" sz="48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5004348" y="4389868"/>
            <a:ext cx="912616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38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Char char="•"/>
            </a:pPr>
            <a:r>
              <a:rPr lang="es-ES" sz="2000">
                <a:solidFill>
                  <a:schemeClr val="dk1"/>
                </a:solidFill>
              </a:rPr>
              <a:t>Diseñar y desarrollar un videojuego funcional del género </a:t>
            </a:r>
            <a:r>
              <a:rPr i="1" lang="es-ES" sz="2000">
                <a:solidFill>
                  <a:schemeClr val="dk1"/>
                </a:solidFill>
              </a:rPr>
              <a:t>deck-builder</a:t>
            </a:r>
            <a:r>
              <a:rPr lang="es-E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438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Char char="•"/>
            </a:pPr>
            <a:r>
              <a:rPr lang="es-ES" sz="2000">
                <a:solidFill>
                  <a:schemeClr val="dk1"/>
                </a:solidFill>
              </a:rPr>
              <a:t>Implementar un sistema de combate por turnos basado en cartas.</a:t>
            </a:r>
            <a:endParaRPr sz="2000">
              <a:solidFill>
                <a:schemeClr val="dk1"/>
              </a:solidFill>
            </a:endParaRPr>
          </a:p>
          <a:p>
            <a:pPr indent="-438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Char char="•"/>
            </a:pPr>
            <a:r>
              <a:rPr lang="es-ES" sz="2000">
                <a:solidFill>
                  <a:schemeClr val="dk1"/>
                </a:solidFill>
              </a:rPr>
              <a:t>Aplicar persistencia de datos mediante base de datos SQLite.</a:t>
            </a:r>
            <a:endParaRPr sz="2000">
              <a:solidFill>
                <a:schemeClr val="dk1"/>
              </a:solidFill>
            </a:endParaRPr>
          </a:p>
          <a:p>
            <a:pPr indent="-438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Char char="•"/>
            </a:pPr>
            <a:r>
              <a:rPr lang="es-ES" sz="2000">
                <a:solidFill>
                  <a:schemeClr val="dk1"/>
                </a:solidFill>
              </a:rPr>
              <a:t>Desarrollar una interfaz gráfica clara y usable.</a:t>
            </a:r>
            <a:endParaRPr sz="2000">
              <a:solidFill>
                <a:schemeClr val="dk1"/>
              </a:solidFill>
            </a:endParaRPr>
          </a:p>
          <a:p>
            <a:pPr indent="-438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Char char="•"/>
            </a:pPr>
            <a:r>
              <a:rPr lang="es-ES" sz="2000">
                <a:solidFill>
                  <a:schemeClr val="dk1"/>
                </a:solidFill>
              </a:rPr>
              <a:t>Aplicar metodología ágil Scrum durante el desarrollo.</a:t>
            </a:r>
            <a:endParaRPr sz="2000">
              <a:solidFill>
                <a:schemeClr val="dk1"/>
              </a:solidFill>
            </a:endParaRPr>
          </a:p>
          <a:p>
            <a:pPr indent="-438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Char char="•"/>
            </a:pPr>
            <a:r>
              <a:rPr lang="es-ES" sz="2000">
                <a:solidFill>
                  <a:schemeClr val="dk1"/>
                </a:solidFill>
              </a:rPr>
              <a:t>Integrar sistemas de progresión, recompensas y enemigos.</a:t>
            </a:r>
            <a:endParaRPr sz="2000">
              <a:solidFill>
                <a:schemeClr val="dk1"/>
              </a:solidFill>
            </a:endParaRPr>
          </a:p>
          <a:p>
            <a:pPr indent="-438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Char char="•"/>
            </a:pPr>
            <a:r>
              <a:rPr lang="es-ES" sz="2000">
                <a:solidFill>
                  <a:schemeClr val="dk1"/>
                </a:solidFill>
              </a:rPr>
              <a:t>Documentar todas las fases del proyecto de forma profesional.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1506605" y="270130"/>
            <a:ext cx="1022671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035272" y="30881831"/>
            <a:ext cx="1268451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s-ES" sz="2800">
                <a:solidFill>
                  <a:schemeClr val="dk1"/>
                </a:solidFill>
              </a:rPr>
              <a:t>Puesta en valor:</a:t>
            </a:r>
            <a:r>
              <a:rPr lang="es-ES" sz="2800">
                <a:solidFill>
                  <a:schemeClr val="dk1"/>
                </a:solidFill>
              </a:rPr>
              <a:t> Proyecto completo, funcional y escalable.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s-ES" sz="2800">
                <a:solidFill>
                  <a:schemeClr val="dk1"/>
                </a:solidFill>
              </a:rPr>
              <a:t>Coste económico:</a:t>
            </a:r>
            <a:r>
              <a:rPr lang="es-ES" sz="2800">
                <a:solidFill>
                  <a:schemeClr val="dk1"/>
                </a:solidFill>
              </a:rPr>
              <a:t> Bajo, utilizando software libre.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s-ES" sz="2800">
                <a:solidFill>
                  <a:schemeClr val="dk1"/>
                </a:solidFill>
              </a:rPr>
              <a:t>Innovación:</a:t>
            </a:r>
            <a:r>
              <a:rPr lang="es-ES" sz="2800">
                <a:solidFill>
                  <a:schemeClr val="dk1"/>
                </a:solidFill>
              </a:rPr>
              <a:t> Integración de base de datos y sistema de progresión en un juego indie.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s-ES" sz="2800">
                <a:solidFill>
                  <a:schemeClr val="dk1"/>
                </a:solidFill>
              </a:rPr>
              <a:t>Mejoras futuras:</a:t>
            </a:r>
            <a:r>
              <a:rPr lang="es-ES" sz="2800">
                <a:solidFill>
                  <a:schemeClr val="dk1"/>
                </a:solidFill>
              </a:rPr>
              <a:t> Nuevos modos de juego, más cartas y enemigos.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s-ES" sz="2800">
                <a:solidFill>
                  <a:schemeClr val="dk1"/>
                </a:solidFill>
              </a:rPr>
              <a:t>Dificultades:</a:t>
            </a:r>
            <a:r>
              <a:rPr lang="es-ES" sz="2800">
                <a:solidFill>
                  <a:schemeClr val="dk1"/>
                </a:solidFill>
              </a:rPr>
              <a:t> Gestión del estado del combate y diseño del sistema de cartas.</a:t>
            </a:r>
            <a:endParaRPr sz="4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060983" y="4611597"/>
            <a:ext cx="12942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</a:rPr>
              <a:t>Este póster presenta el proyecto </a:t>
            </a:r>
            <a:r>
              <a:rPr b="1" lang="es-ES" sz="3200">
                <a:solidFill>
                  <a:schemeClr val="dk1"/>
                </a:solidFill>
              </a:rPr>
              <a:t>Deck &amp; Dagger: Goblin Hunt</a:t>
            </a:r>
            <a:r>
              <a:rPr lang="es-ES" sz="3200">
                <a:solidFill>
                  <a:schemeClr val="dk1"/>
                </a:solidFill>
              </a:rPr>
              <a:t>, desarrollado como Proyecto Fin de Ciclo del Grado Superior en Desarrollo de Aplicaciones Multiplataforma. El objetivo es dar a conocer el trabajo realizado, su enfoque técnico y su aplicación práctica dentro del sector del entretenimiento digital y los videojuegos.</a:t>
            </a:r>
            <a:endParaRPr sz="3500"/>
          </a:p>
        </p:txBody>
      </p:sp>
      <p:sp>
        <p:nvSpPr>
          <p:cNvPr id="98" name="Google Shape;98;p13"/>
          <p:cNvSpPr txBox="1"/>
          <p:nvPr/>
        </p:nvSpPr>
        <p:spPr>
          <a:xfrm>
            <a:off x="1641406" y="10629959"/>
            <a:ext cx="66414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Por qué este Proyecto</a:t>
            </a:r>
            <a:endParaRPr b="1"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641406" y="11186650"/>
            <a:ext cx="7398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 industria del videojuego independiente está en continuo crecimiento y demanda productos innovadores, bien diseñados y técnicamente sólidos. Este proyecto permite aplicar conocimientos reales de programación, diseño de software, bases de datos y metodologías ágiles en un entorno creativo y profesional.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0654720" y="10295227"/>
            <a:ext cx="5270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Paso 1 </a:t>
            </a:r>
            <a:r>
              <a:rPr b="1"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Análisis de requisitos y estudio de mercado.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0654720" y="11371502"/>
            <a:ext cx="5270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Paso 2 </a:t>
            </a:r>
            <a:r>
              <a:rPr b="1"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Diseño de la arquitectura, base de datos e interfaces.</a:t>
            </a:r>
            <a:endParaRPr sz="5783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0654721" y="13696181"/>
            <a:ext cx="52401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Otros pasos o incidencias </a:t>
            </a:r>
            <a:r>
              <a:rPr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  <a:p>
            <a:pPr indent="-3810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Ajustes en el sistema de combate.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Optimización de escenas y rendimiento.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Reorganización del diseño de la interfaz.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641406" y="18166152"/>
            <a:ext cx="63286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Técnicas y materiales usados en el Proyecto</a:t>
            </a:r>
            <a:endParaRPr b="1"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582681" y="19248766"/>
            <a:ext cx="7398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Motor:</a:t>
            </a:r>
            <a:r>
              <a:rPr lang="es-ES" sz="1800">
                <a:solidFill>
                  <a:schemeClr val="dk1"/>
                </a:solidFill>
              </a:rPr>
              <a:t> Godot Engine 4.5.1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Lenguaje:</a:t>
            </a:r>
            <a:r>
              <a:rPr lang="es-ES" sz="1800">
                <a:solidFill>
                  <a:schemeClr val="dk1"/>
                </a:solidFill>
              </a:rPr>
              <a:t> GDScript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Base de datos:</a:t>
            </a:r>
            <a:r>
              <a:rPr lang="es-ES" sz="1800">
                <a:solidFill>
                  <a:schemeClr val="dk1"/>
                </a:solidFill>
              </a:rPr>
              <a:t> SQLite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Metodología:</a:t>
            </a:r>
            <a:r>
              <a:rPr lang="es-ES" sz="1800">
                <a:solidFill>
                  <a:schemeClr val="dk1"/>
                </a:solidFill>
              </a:rPr>
              <a:t> Scrum + Kanban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 sz="1800">
                <a:solidFill>
                  <a:schemeClr val="dk1"/>
                </a:solidFill>
              </a:rPr>
              <a:t>Herramientas:</a:t>
            </a:r>
            <a:r>
              <a:rPr lang="es-ES" sz="1800">
                <a:solidFill>
                  <a:schemeClr val="dk1"/>
                </a:solidFill>
              </a:rPr>
              <a:t> GitHub, diagramas UML, prototipado de interfaces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10194631" y="18021344"/>
            <a:ext cx="493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Ventanas interfaz y de código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1641406" y="24448119"/>
            <a:ext cx="51735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 proyecto en funcionamiento</a:t>
            </a:r>
            <a:endParaRPr b="1"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466431" y="25593292"/>
            <a:ext cx="7398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 jugador inicia cada partida con un mazo básico y avanza por combates estratégicos por turnos, obteniendo cartas y recompensas que permiten mejorar su mazo. Cada partida es diferente, fomentando la rejugabilidad y la toma de decisiones tácticas.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7381510" y="25004263"/>
            <a:ext cx="5269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Cartas personalizadas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Enemigos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Interfaz de personaje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14910988" y="4371332"/>
            <a:ext cx="9603600" cy="4228800"/>
          </a:xfrm>
          <a:prstGeom prst="rect">
            <a:avLst/>
          </a:prstGeom>
          <a:noFill/>
          <a:ln cap="flat" cmpd="sng" w="762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57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14002949" y="3569602"/>
            <a:ext cx="6533803" cy="98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783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es-ES" sz="48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1" sz="48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-114698" y="8945688"/>
            <a:ext cx="8368361" cy="98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783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es-ES" sz="48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DESARROLLO Y RESULTADOS</a:t>
            </a:r>
            <a:endParaRPr b="1" sz="48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-221735" y="29235076"/>
            <a:ext cx="10367712" cy="98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783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es-ES" sz="48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VALORACIONES SOBRE EL PROYECTO</a:t>
            </a:r>
            <a:endParaRPr b="1" sz="48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14002950" y="29171630"/>
            <a:ext cx="10407021" cy="98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783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es-ES" sz="48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REFERENCIAS DE OTROS PROYECTOS</a:t>
            </a:r>
            <a:endParaRPr b="1" sz="48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3"/>
          <p:cNvCxnSpPr/>
          <p:nvPr/>
        </p:nvCxnSpPr>
        <p:spPr>
          <a:xfrm>
            <a:off x="9851307" y="10514758"/>
            <a:ext cx="803413" cy="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" name="Google Shape;115;p13"/>
          <p:cNvCxnSpPr/>
          <p:nvPr/>
        </p:nvCxnSpPr>
        <p:spPr>
          <a:xfrm>
            <a:off x="9851307" y="11581558"/>
            <a:ext cx="803413" cy="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" name="Google Shape;116;p13"/>
          <p:cNvCxnSpPr/>
          <p:nvPr/>
        </p:nvCxnSpPr>
        <p:spPr>
          <a:xfrm>
            <a:off x="9851307" y="14096158"/>
            <a:ext cx="803414" cy="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" name="Google Shape;117;p13"/>
          <p:cNvCxnSpPr/>
          <p:nvPr/>
        </p:nvCxnSpPr>
        <p:spPr>
          <a:xfrm>
            <a:off x="9851307" y="10514758"/>
            <a:ext cx="0" cy="358140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" name="Google Shape;118;p13"/>
          <p:cNvCxnSpPr/>
          <p:nvPr/>
        </p:nvCxnSpPr>
        <p:spPr>
          <a:xfrm>
            <a:off x="9423282" y="13377895"/>
            <a:ext cx="428025" cy="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9" name="Google Shape;119;p13"/>
          <p:cNvSpPr/>
          <p:nvPr/>
        </p:nvSpPr>
        <p:spPr>
          <a:xfrm>
            <a:off x="16341213" y="10276017"/>
            <a:ext cx="7622222" cy="5644080"/>
          </a:xfrm>
          <a:prstGeom prst="rect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16341213" y="16289514"/>
            <a:ext cx="7622222" cy="7536672"/>
          </a:xfrm>
          <a:prstGeom prst="rect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3"/>
          <p:cNvCxnSpPr/>
          <p:nvPr/>
        </p:nvCxnSpPr>
        <p:spPr>
          <a:xfrm>
            <a:off x="9899432" y="17990881"/>
            <a:ext cx="1583110" cy="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" name="Google Shape;122;p13"/>
          <p:cNvCxnSpPr/>
          <p:nvPr/>
        </p:nvCxnSpPr>
        <p:spPr>
          <a:xfrm>
            <a:off x="9923495" y="23826186"/>
            <a:ext cx="6399207" cy="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" name="Google Shape;123;p13"/>
          <p:cNvCxnSpPr/>
          <p:nvPr/>
        </p:nvCxnSpPr>
        <p:spPr>
          <a:xfrm>
            <a:off x="9923495" y="17968093"/>
            <a:ext cx="0" cy="588935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13"/>
          <p:cNvCxnSpPr/>
          <p:nvPr/>
        </p:nvCxnSpPr>
        <p:spPr>
          <a:xfrm>
            <a:off x="9450127" y="20827430"/>
            <a:ext cx="473368" cy="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" name="Google Shape;125;p13"/>
          <p:cNvSpPr/>
          <p:nvPr/>
        </p:nvSpPr>
        <p:spPr>
          <a:xfrm>
            <a:off x="9903354" y="24331365"/>
            <a:ext cx="6438000" cy="4151100"/>
          </a:xfrm>
          <a:prstGeom prst="rect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3"/>
          <p:cNvCxnSpPr/>
          <p:nvPr/>
        </p:nvCxnSpPr>
        <p:spPr>
          <a:xfrm>
            <a:off x="9471286" y="26436733"/>
            <a:ext cx="424471" cy="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" name="Google Shape;127;p13"/>
          <p:cNvCxnSpPr/>
          <p:nvPr/>
        </p:nvCxnSpPr>
        <p:spPr>
          <a:xfrm>
            <a:off x="16323792" y="26436733"/>
            <a:ext cx="1057718" cy="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8" name="Google Shape;128;p13"/>
          <p:cNvCxnSpPr/>
          <p:nvPr/>
        </p:nvCxnSpPr>
        <p:spPr>
          <a:xfrm flipH="1" rot="10800000">
            <a:off x="16348811" y="25421368"/>
            <a:ext cx="1032699" cy="995263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" name="Google Shape;129;p13"/>
          <p:cNvCxnSpPr/>
          <p:nvPr/>
        </p:nvCxnSpPr>
        <p:spPr>
          <a:xfrm>
            <a:off x="16348811" y="26436733"/>
            <a:ext cx="1032699" cy="1069901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" name="Google Shape;130;p13"/>
          <p:cNvSpPr/>
          <p:nvPr/>
        </p:nvSpPr>
        <p:spPr>
          <a:xfrm>
            <a:off x="14911000" y="29786450"/>
            <a:ext cx="9126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ES" sz="2400">
                <a:solidFill>
                  <a:schemeClr val="dk1"/>
                </a:solidFill>
              </a:rPr>
              <a:t>Existen videojuegos similares en el mercado como </a:t>
            </a:r>
            <a:r>
              <a:rPr i="1" lang="es-ES" sz="2400">
                <a:solidFill>
                  <a:schemeClr val="dk1"/>
                </a:solidFill>
              </a:rPr>
              <a:t>Pirates Outlaws</a:t>
            </a:r>
            <a:r>
              <a:rPr lang="es-ES" sz="2400">
                <a:solidFill>
                  <a:schemeClr val="dk1"/>
                </a:solidFill>
              </a:rPr>
              <a:t> o </a:t>
            </a:r>
            <a:r>
              <a:rPr i="1" lang="es-ES" sz="2400">
                <a:solidFill>
                  <a:schemeClr val="dk1"/>
                </a:solidFill>
              </a:rPr>
              <a:t>Slay the Spire</a:t>
            </a:r>
            <a:r>
              <a:rPr lang="es-ES" sz="2400">
                <a:solidFill>
                  <a:schemeClr val="dk1"/>
                </a:solidFill>
              </a:rPr>
              <a:t>, que han servido como referencia conceptual, aunque el proyecto presenta una implementación propia y adaptada a objetivos formativos.</a:t>
            </a:r>
            <a:endParaRPr sz="2400"/>
          </a:p>
          <a:p>
            <a:pPr indent="-215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14826200" y="2971672"/>
            <a:ext cx="726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C55A11"/>
                </a:solidFill>
                <a:latin typeface="Overlock"/>
                <a:ea typeface="Overlock"/>
                <a:cs typeface="Overlock"/>
                <a:sym typeface="Overlock"/>
              </a:rPr>
              <a:t>Andrés Serrano Modrego</a:t>
            </a:r>
            <a:endParaRPr b="1" sz="3600">
              <a:solidFill>
                <a:srgbClr val="C55A1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12600000" y="1812725"/>
            <a:ext cx="9471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C55A11"/>
                </a:solidFill>
                <a:latin typeface="Overlock"/>
                <a:ea typeface="Overlock"/>
                <a:cs typeface="Overlock"/>
                <a:sym typeface="Overlock"/>
              </a:rPr>
              <a:t>Proyecto Fin de Ciclo  Desarrollo de aplicaciones multiplataforma</a:t>
            </a:r>
            <a:endParaRPr b="1" sz="3600">
              <a:solidFill>
                <a:srgbClr val="C55A1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14826195" y="1272952"/>
            <a:ext cx="72652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C55A11"/>
                </a:solidFill>
                <a:latin typeface="Overlock"/>
                <a:ea typeface="Overlock"/>
                <a:cs typeface="Overlock"/>
                <a:sym typeface="Overlock"/>
              </a:rPr>
              <a:t>Familia Profesional</a:t>
            </a:r>
            <a:endParaRPr b="1" sz="3600">
              <a:solidFill>
                <a:srgbClr val="C55A1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14826195" y="586768"/>
            <a:ext cx="72652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C55A11"/>
                </a:solidFill>
                <a:latin typeface="Overlock"/>
                <a:ea typeface="Overlock"/>
                <a:cs typeface="Overlock"/>
                <a:sym typeface="Overlock"/>
              </a:rPr>
              <a:t>CPIFP BAJO ARAGÓN de Alcañiz</a:t>
            </a:r>
            <a:endParaRPr b="1" sz="3600">
              <a:solidFill>
                <a:srgbClr val="C55A1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cxnSp>
        <p:nvCxnSpPr>
          <p:cNvPr id="135" name="Google Shape;135;p13"/>
          <p:cNvCxnSpPr/>
          <p:nvPr/>
        </p:nvCxnSpPr>
        <p:spPr>
          <a:xfrm>
            <a:off x="15894677" y="13892488"/>
            <a:ext cx="428025" cy="0"/>
          </a:xfrm>
          <a:prstGeom prst="straightConnector1">
            <a:avLst/>
          </a:prstGeom>
          <a:noFill/>
          <a:ln cap="flat" cmpd="sng" w="57150">
            <a:solidFill>
              <a:srgbClr val="C55A1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13"/>
          <p:cNvSpPr txBox="1"/>
          <p:nvPr/>
        </p:nvSpPr>
        <p:spPr>
          <a:xfrm>
            <a:off x="15004350" y="32701075"/>
            <a:ext cx="8959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s-E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 un futuro próximo la idea es mejorar, pulir y añadir mecánicas para que sea un juego divertido, muy escalable y con aspecto profesional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32634" y="596213"/>
            <a:ext cx="2551635" cy="264614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3"/>
          <p:cNvSpPr txBox="1"/>
          <p:nvPr/>
        </p:nvSpPr>
        <p:spPr>
          <a:xfrm>
            <a:off x="16603543" y="16569586"/>
            <a:ext cx="60093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78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Combate</a:t>
            </a:r>
            <a:endParaRPr sz="578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22232634" y="3362546"/>
            <a:ext cx="25516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 2025/2026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1984" y="13898215"/>
            <a:ext cx="4993862" cy="3329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11987" y="21095685"/>
            <a:ext cx="4993873" cy="2555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91400" y="25067750"/>
            <a:ext cx="5436753" cy="28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648738" y="24195600"/>
            <a:ext cx="140970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115271" y="25547009"/>
            <a:ext cx="2074113" cy="1592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426222" y="27728673"/>
            <a:ext cx="3320653" cy="10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793051" y="18633463"/>
            <a:ext cx="4678626" cy="2198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793050" y="20982775"/>
            <a:ext cx="4678626" cy="2299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526344" y="11689069"/>
            <a:ext cx="7251961" cy="4037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3"/>
          <p:cNvSpPr txBox="1"/>
          <p:nvPr/>
        </p:nvSpPr>
        <p:spPr>
          <a:xfrm>
            <a:off x="16728243" y="10366211"/>
            <a:ext cx="60093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78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Mapa de nodos</a:t>
            </a:r>
            <a:endParaRPr sz="578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6638550" y="18096907"/>
            <a:ext cx="7027549" cy="392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